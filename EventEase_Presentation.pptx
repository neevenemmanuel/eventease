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7" r:id="rId4"/>
    <p:sldMasterId id="2147483691" r:id="rId5"/>
    <p:sldMasterId id="2147483700" r:id="rId6"/>
    <p:sldMasterId id="2147483709" r:id="rId7"/>
  </p:sldMasterIdLst>
  <p:notesMasterIdLst>
    <p:notesMasterId r:id="rId18"/>
  </p:notesMasterIdLst>
  <p:handoutMasterIdLst>
    <p:handoutMasterId r:id="rId19"/>
  </p:handoutMasterIdLst>
  <p:sldIdLst>
    <p:sldId id="285" r:id="rId8"/>
    <p:sldId id="262" r:id="rId9"/>
    <p:sldId id="426" r:id="rId10"/>
    <p:sldId id="427" r:id="rId11"/>
    <p:sldId id="428" r:id="rId12"/>
    <p:sldId id="430" r:id="rId13"/>
    <p:sldId id="429" r:id="rId14"/>
    <p:sldId id="431" r:id="rId15"/>
    <p:sldId id="433" r:id="rId16"/>
    <p:sldId id="434" r:id="rId51"/>
    <p:sldId id="425" r:id="rId17"/>
  </p:sldIdLst>
  <p:sldSz cx="12192000" cy="6858000"/>
  <p:notesSz cx="6858000" cy="9144000"/>
  <p:embeddedFontLst>
    <p:embeddedFont>
      <p:font typeface="Barlow Light" panose="00000400000000000000" pitchFamily="2" charset="0"/>
      <p:regular r:id="rId20"/>
      <p:italic r:id="rId21"/>
    </p:embeddedFont>
    <p:embeddedFont>
      <p:font typeface="Barlow SemiBold" panose="00000700000000000000" pitchFamily="2" charset="0"/>
      <p:regular r:id="rId22"/>
      <p:bold r:id="rId23"/>
      <p:italic r:id="rId24"/>
      <p:boldItalic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Open Sans" panose="020B0606030504020204" pitchFamily="34" charset="0"/>
      <p:regular r:id="rId34"/>
      <p:bold r:id="rId35"/>
      <p:italic r:id="rId36"/>
      <p:boldItalic r:id="rId37"/>
    </p:embeddedFont>
    <p:embeddedFont>
      <p:font typeface="Open Sans Extrabold" panose="020B0906030804020204" pitchFamily="34" charset="0"/>
      <p:bold r:id="rId38"/>
      <p:italic r:id="rId39"/>
      <p:boldItalic r:id="rId40"/>
    </p:embeddedFont>
    <p:embeddedFont>
      <p:font typeface="Open Sans Light" panose="020B0306030504020204" pitchFamily="34" charset="0"/>
      <p:regular r:id="rId41"/>
      <p:italic r:id="rId42"/>
    </p:embeddedFont>
    <p:embeddedFont>
      <p:font typeface="Open Sans Semibold" panose="020B0706030804020204" pitchFamily="3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  <a:srgbClr val="3D3A3B"/>
    <a:srgbClr val="E7E7E8"/>
    <a:srgbClr val="00CB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/>
    <p:restoredTop sz="78108"/>
  </p:normalViewPr>
  <p:slideViewPr>
    <p:cSldViewPr snapToGrid="0" snapToObjects="1">
      <p:cViewPr varScale="1">
        <p:scale>
          <a:sx n="51" d="100"/>
          <a:sy n="51" d="100"/>
        </p:scale>
        <p:origin x="13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font" Target="fonts/font13.fntdata"/><Relationship Id="rId33" Type="http://schemas.openxmlformats.org/officeDocument/2006/relationships/font" Target="fonts/font14.fntdata"/><Relationship Id="rId34" Type="http://schemas.openxmlformats.org/officeDocument/2006/relationships/font" Target="fonts/font15.fntdata"/><Relationship Id="rId35" Type="http://schemas.openxmlformats.org/officeDocument/2006/relationships/font" Target="fonts/font16.fntdata"/><Relationship Id="rId36" Type="http://schemas.openxmlformats.org/officeDocument/2006/relationships/font" Target="fonts/font17.fntdata"/><Relationship Id="rId37" Type="http://schemas.openxmlformats.org/officeDocument/2006/relationships/font" Target="fonts/font18.fntdata"/><Relationship Id="rId38" Type="http://schemas.openxmlformats.org/officeDocument/2006/relationships/font" Target="fonts/font19.fntdata"/><Relationship Id="rId39" Type="http://schemas.openxmlformats.org/officeDocument/2006/relationships/font" Target="fonts/font20.fntdata"/><Relationship Id="rId40" Type="http://schemas.openxmlformats.org/officeDocument/2006/relationships/font" Target="fonts/font21.fntdata"/><Relationship Id="rId41" Type="http://schemas.openxmlformats.org/officeDocument/2006/relationships/font" Target="fonts/font22.fntdata"/><Relationship Id="rId42" Type="http://schemas.openxmlformats.org/officeDocument/2006/relationships/font" Target="fonts/font23.fntdata"/><Relationship Id="rId43" Type="http://schemas.openxmlformats.org/officeDocument/2006/relationships/font" Target="fonts/font24.fntdata"/><Relationship Id="rId44" Type="http://schemas.openxmlformats.org/officeDocument/2006/relationships/font" Target="fonts/font25.fntdata"/><Relationship Id="rId45" Type="http://schemas.openxmlformats.org/officeDocument/2006/relationships/font" Target="fonts/font26.fntdata"/><Relationship Id="rId46" Type="http://schemas.openxmlformats.org/officeDocument/2006/relationships/font" Target="fonts/font27.fntdata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7E11E6-8150-AF44-AFE7-DF986568B2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99326-1140-9949-874B-CD046F3049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A953B-9909-7344-830D-F654C8372957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CB73C-BF19-5C49-9411-5E8924F194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62293-26BF-CA45-A807-782718E6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848B1-B0DD-424F-802B-05423415D1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53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2CC0F-9473-0047-886D-57B7E191AF4C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D582C-B91B-2B4F-BB3D-6012B56209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35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D582C-B91B-2B4F-BB3D-6012B562093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163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4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Relationship Id="rId4" Type="http://schemas.openxmlformats.org/officeDocument/2006/relationships/image" Target="../media/image8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jpeg"/><Relationship Id="rId3" Type="http://schemas.openxmlformats.org/officeDocument/2006/relationships/image" Target="../media/image1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jpeg"/><Relationship Id="rId3" Type="http://schemas.openxmlformats.org/officeDocument/2006/relationships/image" Target="../media/image1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jpeg"/><Relationship Id="rId3" Type="http://schemas.openxmlformats.org/officeDocument/2006/relationships/image" Target="../media/image1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B89EEF8-F59E-404A-ADC6-4CDB12047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A94B2B-C868-468D-91DC-8F17D0A5F9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5458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9D304B-F131-D04E-9BB2-C234FACCF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CE54F5-4EC8-495D-B871-5FDD7F4764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</p:spTree>
    <p:extLst>
      <p:ext uri="{BB962C8B-B14F-4D97-AF65-F5344CB8AC3E}">
        <p14:creationId xmlns:p14="http://schemas.microsoft.com/office/powerpoint/2010/main" val="177191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9EECD76-5546-394C-A08F-DB8E115F00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8929" y="3382499"/>
            <a:ext cx="7152861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83BEE6D-49FB-440F-98D5-CB1C44202049}"/>
              </a:ext>
            </a:extLst>
          </p:cNvPr>
          <p:cNvGrpSpPr/>
          <p:nvPr userDrawn="1"/>
        </p:nvGrpSpPr>
        <p:grpSpPr>
          <a:xfrm>
            <a:off x="5557919" y="4760536"/>
            <a:ext cx="5618375" cy="1980506"/>
            <a:chOff x="5557919" y="4760536"/>
            <a:chExt cx="5618375" cy="198050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320B6F8-8E52-F940-BA78-A0A2B78F1B1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32480" t="77968" r="-4719" b="9263"/>
            <a:stretch/>
          </p:blipFill>
          <p:spPr>
            <a:xfrm>
              <a:off x="5557919" y="4760536"/>
              <a:ext cx="5618375" cy="1980506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37A5EF-1CCA-4630-996C-77608B56F8B3}"/>
                </a:ext>
              </a:extLst>
            </p:cNvPr>
            <p:cNvSpPr/>
            <p:nvPr userDrawn="1"/>
          </p:nvSpPr>
          <p:spPr>
            <a:xfrm>
              <a:off x="6748272" y="4837176"/>
              <a:ext cx="4361688" cy="9966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6B6C16E-6CB1-4D84-B65E-7BE162FA3C7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953175" y="404813"/>
            <a:ext cx="4833937" cy="519747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787306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A52323EE-F917-4344-990B-84E13A1D88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52438"/>
            <a:ext cx="4316412" cy="427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  <p:sp>
        <p:nvSpPr>
          <p:cNvPr id="23" name="Picture Placeholder 21">
            <a:extLst>
              <a:ext uri="{FF2B5EF4-FFF2-40B4-BE49-F238E27FC236}">
                <a16:creationId xmlns:a16="http://schemas.microsoft.com/office/drawing/2014/main" id="{2EAF4550-BE04-4D85-8140-CAEE531D60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22938" y="4722813"/>
            <a:ext cx="2152650" cy="17224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83916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0301E3A-AEBD-1049-9450-8220EE1A20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84569" r="1" b="10595"/>
          <a:stretch/>
        </p:blipFill>
        <p:spPr>
          <a:xfrm>
            <a:off x="6358878" y="5784573"/>
            <a:ext cx="5405523" cy="7500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0B0078-646E-0A42-AFBD-3E03F49122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021D86-4D96-E542-A7AA-52E138A56A16}"/>
              </a:ext>
            </a:extLst>
          </p:cNvPr>
          <p:cNvSpPr txBox="1"/>
          <p:nvPr/>
        </p:nvSpPr>
        <p:spPr>
          <a:xfrm>
            <a:off x="427599" y="2792273"/>
            <a:ext cx="459280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respectfully acknowledge the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People of the Kulin Nation, who are the Traditional Owners of the land on which Swinburne’s Australian campuses are located in Melbourne’s east and outer-east, and pay our respect to their Elders past, present and emerging.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are honoured to recognise our connection to </a:t>
            </a:r>
            <a:r>
              <a:rPr lang="en-GB" sz="1000" b="0" i="0" dirty="0" err="1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Wurundjeri</a:t>
            </a:r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Country, history, culture, and spirituality through these locations, and strive to ensure that we operate in a manner that respects and honours the Elders and Ancestors of these lands.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respectfully acknowledge Swinburne’s Aboriginal and Torres Strait Islander staff, students, alumni, partners and visitors.</a:t>
            </a:r>
          </a:p>
          <a:p>
            <a:endParaRPr lang="en-GB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r>
              <a:rPr lang="en-GB" sz="1000" b="0" i="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We also acknowledge and respect the Traditional Owners of lands across Australia, their Elders, Ancestors, cultures, and heritage, and recognise the continuing sovereignties of all Aboriginal and Torres Strait Islander Nations.</a:t>
            </a:r>
          </a:p>
          <a:p>
            <a:endParaRPr lang="en-US" sz="1000" b="0" i="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3F0F09-72F3-3441-9402-E373F8E5EB3F}"/>
              </a:ext>
            </a:extLst>
          </p:cNvPr>
          <p:cNvSpPr txBox="1"/>
          <p:nvPr/>
        </p:nvSpPr>
        <p:spPr>
          <a:xfrm>
            <a:off x="434508" y="1858410"/>
            <a:ext cx="5661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i="0" dirty="0">
                <a:latin typeface="Barlow Light" pitchFamily="2" charset="77"/>
                <a:ea typeface="DIN 2014 Light" panose="020B0404020202020204" pitchFamily="34" charset="77"/>
              </a:rPr>
              <a:t>Acknowledgement of Country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A067CD-E520-DC4D-B83A-C56E5FCC5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21" t="28383" r="14498" b="18249"/>
          <a:stretch/>
        </p:blipFill>
        <p:spPr>
          <a:xfrm>
            <a:off x="7434470" y="404038"/>
            <a:ext cx="4757530" cy="5198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35ED88-E76B-A544-B183-904F87143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498" t="79189" r="57973" b="15495"/>
          <a:stretch/>
        </p:blipFill>
        <p:spPr>
          <a:xfrm>
            <a:off x="6358878" y="4950069"/>
            <a:ext cx="896687" cy="824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86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4"/>
            <a:ext cx="54139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0FB895-CEDF-407A-8EBB-D14839C388BA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1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1AB50-6DF5-0046-88B5-CCF309E40D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9D4BD1-E32E-4B45-9EE2-0025BDBB5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06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ody slide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2117D9-7D31-CF43-ADFD-F98B62BD99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481" r="2" b="14827"/>
          <a:stretch/>
        </p:blipFill>
        <p:spPr>
          <a:xfrm>
            <a:off x="7683335" y="4840357"/>
            <a:ext cx="4081066" cy="103793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86E4EA-34C8-E244-8CAB-C02FEF40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6904799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AE31527-290E-A24C-AA95-FA74345F0F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259A720-FEE8-5141-B4A1-A0D410B4C3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690479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98469BC-0212-0841-B9E2-4583B2ABE9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4CD2C42-FE07-4F3E-B6EF-9DF80CF9F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875588" y="449263"/>
            <a:ext cx="4316412" cy="42735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388525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3143AD1-9D72-DE4B-8F1E-2D6B178E5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FA5ACD-3A97-B149-B36C-5AA41525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9226" t="68124" r="-962" b="10595"/>
          <a:stretch/>
        </p:blipFill>
        <p:spPr>
          <a:xfrm>
            <a:off x="10260622" y="211344"/>
            <a:ext cx="1690585" cy="330075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E6306D7-3A2F-F940-9F7B-15EB392CAB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5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DCA242E-7F41-D547-A34B-ECAD02B740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9687754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9E5544B2-7476-044A-821A-71516FF0BD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BA71D75-C832-624C-ADF5-2477EC2446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8E0CB9A1-AA5A-1F45-81B8-6B21FDF845C8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30281" y="3039762"/>
            <a:ext cx="9687754" cy="2309386"/>
          </a:xfrm>
          <a:prstGeom prst="rect">
            <a:avLst/>
          </a:prstGeom>
          <a:noFill/>
        </p:spPr>
        <p:txBody>
          <a:bodyPr/>
          <a:lstStyle>
            <a:lvl1pPr>
              <a:defRPr sz="1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13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55804"/>
            <a:ext cx="6089790" cy="92333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life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85430"/>
            <a:ext cx="6089790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It’s what you make it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748813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Sam Sample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4076805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23 April,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84250" r="-4719" b="9263"/>
          <a:stretch/>
        </p:blipFill>
        <p:spPr>
          <a:xfrm>
            <a:off x="5557919" y="5734878"/>
            <a:ext cx="5618375" cy="1006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459" t="13219" r="23662" b="-264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A8A8EC-9FB9-444F-A69E-63E5196ED0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52977" b="15545"/>
          <a:stretch/>
        </p:blipFill>
        <p:spPr>
          <a:xfrm>
            <a:off x="5557920" y="4760536"/>
            <a:ext cx="1131116" cy="100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4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5618375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5618375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20B6F8-8E52-F940-BA78-A0A2B78F1B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480" t="77968" r="-4719" b="9263"/>
          <a:stretch/>
        </p:blipFill>
        <p:spPr>
          <a:xfrm>
            <a:off x="5557919" y="4760536"/>
            <a:ext cx="5618375" cy="1980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1A2690-5A04-4048-8F01-F3EEC9A22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6846" t="13787" r="21181" b="2382"/>
          <a:stretch/>
        </p:blipFill>
        <p:spPr>
          <a:xfrm>
            <a:off x="6894485" y="404038"/>
            <a:ext cx="4834735" cy="519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40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D9B950-D9DF-7541-A266-CE79D0A9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5311258-8550-6F40-BB50-693D1D06791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6506097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A16839-F903-C14A-8C23-60C27B9ADE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806063"/>
            <a:ext cx="6506097" cy="43281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ts val="2860"/>
              </a:lnSpc>
              <a:spcAft>
                <a:spcPts val="0"/>
              </a:spcAft>
              <a:buNone/>
              <a:defRPr sz="2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subtitle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BE5CB6-B6EB-C044-A141-32611B89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3537942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34B6657-AB48-D24C-8CD9-DFE2033AD0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3865934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F95770-577E-2F4F-90B8-2401D9014C3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606" t="49360" r="68851" b="45400"/>
          <a:stretch/>
        </p:blipFill>
        <p:spPr>
          <a:xfrm>
            <a:off x="131977" y="323389"/>
            <a:ext cx="2780907" cy="8127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B7D4E7-3C73-7A4A-946D-63804544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34" t="78297" r="1" b="10595"/>
          <a:stretch/>
        </p:blipFill>
        <p:spPr>
          <a:xfrm>
            <a:off x="8080513" y="4811775"/>
            <a:ext cx="3683888" cy="17228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56A9A7-BA5D-8F4F-87A5-52E81EF79B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71" t="4838" r="27910"/>
          <a:stretch/>
        </p:blipFill>
        <p:spPr>
          <a:xfrm>
            <a:off x="7876014" y="452487"/>
            <a:ext cx="4315985" cy="4270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A55381-D824-1843-9E81-B6C7DD2761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33" r="5833"/>
          <a:stretch/>
        </p:blipFill>
        <p:spPr>
          <a:xfrm>
            <a:off x="5722463" y="4722829"/>
            <a:ext cx="2153551" cy="17228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0CDDDD-6F87-BF44-8B03-FC4E347C60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23" t="71919" r="51711" b="23057"/>
          <a:stretch/>
        </p:blipFill>
        <p:spPr>
          <a:xfrm>
            <a:off x="6936377" y="3822520"/>
            <a:ext cx="806206" cy="7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20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4A883F-D7EF-994A-8C0A-250C680E9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20" y="5565272"/>
            <a:ext cx="1814147" cy="880395"/>
          </a:xfrm>
          <a:prstGeom prst="rect">
            <a:avLst/>
          </a:prstGeom>
          <a:ln w="6350"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C9E8C4A-1C6F-0847-BF94-B8F6F086A0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1869345"/>
            <a:ext cx="7671729" cy="1781257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Facilities </a:t>
            </a:r>
            <a:br>
              <a:rPr lang="en-US" dirty="0"/>
            </a:br>
            <a:r>
              <a:rPr lang="en-US" dirty="0"/>
              <a:t>and services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CB0E58-519D-1C4A-9758-18D74E94D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09" t="68124" r="2" b="12204"/>
          <a:stretch/>
        </p:blipFill>
        <p:spPr>
          <a:xfrm>
            <a:off x="8102009" y="3233854"/>
            <a:ext cx="3662391" cy="30511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5B9D3D-C254-FE4D-B97F-D0D03F4FA9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3D571E-6C6A-4798-9A60-604AE949FEB4}"/>
              </a:ext>
            </a:extLst>
          </p:cNvPr>
          <p:cNvSpPr/>
          <p:nvPr userDrawn="1"/>
        </p:nvSpPr>
        <p:spPr>
          <a:xfrm>
            <a:off x="8287473" y="6445667"/>
            <a:ext cx="3476927" cy="412333"/>
          </a:xfrm>
          <a:prstGeom prst="rect">
            <a:avLst/>
          </a:prstGeom>
          <a:solidFill>
            <a:srgbClr val="E7E7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9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9687754" cy="1077218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Swinburne empowers you to </a:t>
            </a:r>
            <a:br>
              <a:rPr lang="en-US" dirty="0"/>
            </a:br>
            <a:r>
              <a:rPr lang="en-US" dirty="0"/>
              <a:t>make the most of your experience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226" t="68124" r="1" b="10595"/>
          <a:stretch/>
        </p:blipFill>
        <p:spPr>
          <a:xfrm>
            <a:off x="10260623" y="211344"/>
            <a:ext cx="1615638" cy="3300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11E3A5E-99C3-A248-9BD6-51A7C5B929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832144"/>
            <a:ext cx="9687754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has a wide range of facilities and support services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F6AA28-ECBB-4880-813D-2B3B6BEC86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CFC9AE-857A-4CF3-B511-2C7E86276E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416969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1815903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ple_Body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7152861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Safety on campus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96A50B-0CED-5E4D-BA45-B1ED01FB7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7527" t="78866" r="2" b="14827"/>
          <a:stretch/>
        </p:blipFill>
        <p:spPr>
          <a:xfrm>
            <a:off x="7683335" y="4899991"/>
            <a:ext cx="4081066" cy="97829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92E0E6-1027-8048-A325-503E10C0E9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7152861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Swinburne takes safety and security very seriously.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29465B6-EAD9-4F8E-A664-BA0A0BD52F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2D844A4-A477-478A-B06A-5DDB45441E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9966" t="12338" r="26401" b="3540"/>
          <a:stretch/>
        </p:blipFill>
        <p:spPr>
          <a:xfrm>
            <a:off x="7876015" y="449927"/>
            <a:ext cx="4315985" cy="4270342"/>
          </a:xfrm>
          <a:prstGeom prst="rect">
            <a:avLst/>
          </a:prstGeom>
        </p:spPr>
      </p:pic>
      <p:sp>
        <p:nvSpPr>
          <p:cNvPr id="20" name="Subtitle 2">
            <a:extLst>
              <a:ext uri="{FF2B5EF4-FFF2-40B4-BE49-F238E27FC236}">
                <a16:creationId xmlns:a16="http://schemas.microsoft.com/office/drawing/2014/main" id="{E117F348-3FC8-42E6-B117-DD3752D149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80" y="2247150"/>
            <a:ext cx="6904798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 dirty="0"/>
              <a:t>Click to edit body copy</a:t>
            </a:r>
          </a:p>
        </p:txBody>
      </p:sp>
    </p:spTree>
    <p:extLst>
      <p:ext uri="{BB962C8B-B14F-4D97-AF65-F5344CB8AC3E}">
        <p14:creationId xmlns:p14="http://schemas.microsoft.com/office/powerpoint/2010/main" val="3794482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mple_Body slid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0280" y="449927"/>
            <a:ext cx="10681668" cy="58477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ct val="100000"/>
              </a:lnSpc>
              <a:defRPr sz="32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How a table slide can appear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4273B4-A5A6-EE41-BD37-13F7331B8F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6515" y="6104792"/>
            <a:ext cx="989746" cy="480318"/>
          </a:xfrm>
          <a:prstGeom prst="rect">
            <a:avLst/>
          </a:prstGeom>
          <a:ln w="6350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4611B57F-60E4-BF40-AC95-C9DB86A26E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0279" y="2247150"/>
            <a:ext cx="10681667" cy="276999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 cap="none" baseline="0">
                <a:solidFill>
                  <a:srgbClr val="000000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You may add some body text to explain your table.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0E51DE-39B6-CC4B-BA98-3ABC1461C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280" y="1508852"/>
            <a:ext cx="10681668" cy="517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en-US" dirty="0"/>
              <a:t>These can be useful for displaying statistics and timelines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963C177-FD25-4F8F-B236-438FB53165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280" y="6335873"/>
            <a:ext cx="5049837" cy="2492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GB" dirty="0"/>
              <a:t>Footnotes can go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368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3C11-A994-E549-B042-382B089866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8929" y="2445781"/>
            <a:ext cx="7152861" cy="86562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lnSpc>
                <a:spcPts val="6620"/>
              </a:lnSpc>
              <a:defRPr sz="5400" b="0" i="0" cap="none" baseline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35A7696-ECE8-C940-A4FE-4B77CA605C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8929" y="4114378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1" i="0">
                <a:solidFill>
                  <a:srgbClr val="000000"/>
                </a:solidFill>
                <a:latin typeface="Barlow SemiBold" pitchFamily="2" charset="77"/>
                <a:ea typeface="DIN 2014 Demi" panose="020B05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Presented by Name </a:t>
            </a:r>
            <a:r>
              <a:rPr lang="en-GB" dirty="0" err="1"/>
              <a:t>Lastname</a:t>
            </a:r>
            <a:endParaRPr lang="en-GB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DC6E18F-FA4E-DF49-843E-38F72D48BA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8929" y="4442370"/>
            <a:ext cx="3497815" cy="28457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 b="0" i="0">
                <a:solidFill>
                  <a:srgbClr val="000000"/>
                </a:solidFill>
                <a:latin typeface="Barlow Light" pitchFamily="2" charset="77"/>
                <a:ea typeface="DIN 2014 Light" panose="020B0404020202020204" pitchFamily="34" charset="77"/>
                <a:cs typeface="Open Sans" panose="020B0606030504020204" pitchFamily="34" charset="0"/>
              </a:defRPr>
            </a:lvl1pPr>
          </a:lstStyle>
          <a:p>
            <a:pPr lvl="0"/>
            <a:r>
              <a:rPr lang="en-GB" dirty="0"/>
              <a:t>Day 00 Month, 2021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293312-AFF4-D84D-99E7-98D4D7B28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2909" t="68124" r="2" b="10595"/>
          <a:stretch/>
        </p:blipFill>
        <p:spPr>
          <a:xfrm>
            <a:off x="8102009" y="3233854"/>
            <a:ext cx="3662391" cy="33007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2F9E7-BC4A-CD44-9374-3963AC3F1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4686" y="422097"/>
            <a:ext cx="1762621" cy="855390"/>
          </a:xfrm>
          <a:prstGeom prst="rect">
            <a:avLst/>
          </a:prstGeom>
          <a:ln w="6350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27B3FD-0E2F-1A45-9E15-2CEF5BB47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74" t="49360" r="52758" b="42026"/>
          <a:stretch/>
        </p:blipFill>
        <p:spPr>
          <a:xfrm>
            <a:off x="271667" y="323388"/>
            <a:ext cx="3372988" cy="133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0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40E8D6-300A-EC4E-9A82-8E5FF0C767D0}"/>
              </a:ext>
            </a:extLst>
          </p:cNvPr>
          <p:cNvSpPr/>
          <p:nvPr userDrawn="1"/>
        </p:nvSpPr>
        <p:spPr>
          <a:xfrm>
            <a:off x="-1" y="0"/>
            <a:ext cx="12192001" cy="1202635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1" i="0" dirty="0">
              <a:latin typeface="Montserrat" pitchFamily="2" charset="77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EB252FA-DA85-3A44-94E6-B57BDF7F1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64" y="1"/>
            <a:ext cx="10515600" cy="1202633"/>
          </a:xfrm>
        </p:spPr>
        <p:txBody>
          <a:bodyPr lIns="90000" tIns="46800" rIns="90000" bIns="46800">
            <a:normAutofit/>
          </a:bodyPr>
          <a:lstStyle>
            <a:lvl1pPr>
              <a:defRPr sz="3200" cap="none" baseline="0">
                <a:solidFill>
                  <a:srgbClr val="343638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32B33-4CDD-1249-850C-3BBEBF4C62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1664" y="1654629"/>
            <a:ext cx="10790189" cy="3875314"/>
          </a:xfrm>
        </p:spPr>
        <p:txBody>
          <a:bodyPr/>
          <a:lstStyle>
            <a:lvl1pPr>
              <a:defRPr sz="2000" b="1" i="0">
                <a:solidFill>
                  <a:srgbClr val="343638"/>
                </a:solidFill>
                <a:latin typeface="Montserrat" pitchFamily="2" charset="77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360363" indent="-1809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533400" indent="-1301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714375" indent="-180975">
              <a:lnSpc>
                <a:spcPct val="100000"/>
              </a:lnSpc>
              <a:spcBef>
                <a:spcPts val="0"/>
              </a:spcBef>
              <a:tabLst/>
              <a:defRPr sz="1600" b="0" i="0">
                <a:solidFill>
                  <a:srgbClr val="343638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982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88870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85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7436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80405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43029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85952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6" descr="Swinburne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519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4846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5040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AMDC Fins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1"/>
            <a:ext cx="11488755" cy="2041635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3293128"/>
            <a:ext cx="11496164" cy="1404996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811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Paper">
    <p:bg>
      <p:bgPr>
        <a:blipFill dpi="0" rotWithShape="1">
          <a:blip r:embed="rId2" cstate="screen">
            <a:alphaModFix amt="9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25343"/>
            <a:ext cx="9144000" cy="2426140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>
                <a:solidFill>
                  <a:schemeClr val="bg1">
                    <a:lumMod val="95000"/>
                  </a:schemeClr>
                </a:solidFill>
              </a:rPr>
              <a:t>CRICOS</a:t>
            </a:r>
            <a:r>
              <a:rPr lang="en-AU" sz="800" baseline="0">
                <a:solidFill>
                  <a:schemeClr val="bg1">
                    <a:lumMod val="95000"/>
                  </a:schemeClr>
                </a:solidFill>
              </a:rPr>
              <a:t> 00111D</a:t>
            </a:r>
          </a:p>
          <a:p>
            <a:pPr algn="r"/>
            <a:r>
              <a:rPr lang="en-AU" sz="800" baseline="0">
                <a:solidFill>
                  <a:schemeClr val="bg1">
                    <a:lumMod val="95000"/>
                  </a:schemeClr>
                </a:solidFill>
              </a:rPr>
              <a:t>TOID 3069</a:t>
            </a:r>
            <a:endParaRPr lang="en-AU" sz="80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322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Swinburne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1623" y="1290909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600" strike="noStrike" cap="all" baseline="0">
                <a:solidFill>
                  <a:schemeClr val="bg1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1pPr>
          </a:lstStyle>
          <a:p>
            <a:r>
              <a:rPr lang="en-US"/>
              <a:t>CLICK TO ADD TITLE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1623" y="3586928"/>
            <a:ext cx="11488755" cy="2388859"/>
          </a:xfrm>
          <a:noFill/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11" name="Picture 10" descr="KNOWING Logo RGB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  <a:ln w="25400">
            <a:solidFill>
              <a:schemeClr val="bg2"/>
            </a:solidFill>
            <a:miter lim="800000"/>
          </a:ln>
        </p:spPr>
      </p:pic>
      <p:pic>
        <p:nvPicPr>
          <p:cNvPr id="12" name="Picture 11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  <a:ln w="25400">
            <a:solidFill>
              <a:schemeClr val="bg2"/>
            </a:solidFill>
            <a:miter lim="800000"/>
          </a:ln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>
                <a:solidFill>
                  <a:schemeClr val="tx1"/>
                </a:solidFill>
              </a:rPr>
              <a:t>CRICOS</a:t>
            </a:r>
            <a:r>
              <a:rPr lang="en-AU" sz="800" baseline="0">
                <a:solidFill>
                  <a:schemeClr val="tx1"/>
                </a:solidFill>
              </a:rPr>
              <a:t> 00111D</a:t>
            </a:r>
          </a:p>
          <a:p>
            <a:pPr algn="r"/>
            <a:r>
              <a:rPr lang="en-AU" sz="800" baseline="0">
                <a:solidFill>
                  <a:schemeClr val="tx1"/>
                </a:solidFill>
              </a:rPr>
              <a:t>TOID 3069</a:t>
            </a:r>
            <a:endParaRPr lang="en-AU" sz="800">
              <a:solidFill>
                <a:schemeClr val="tx1"/>
              </a:solidFill>
            </a:endParaRP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44212" y="6176964"/>
            <a:ext cx="2743200" cy="5445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12817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385466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4010765"/>
            <a:ext cx="11488755" cy="84558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918" y="4873073"/>
            <a:ext cx="11496165" cy="1141473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0287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/>
              <a:t>CRICOS</a:t>
            </a:r>
            <a:r>
              <a:rPr lang="en-AU" sz="800" baseline="0"/>
              <a:t> 00111D</a:t>
            </a:r>
          </a:p>
          <a:p>
            <a:pPr algn="r"/>
            <a:r>
              <a:rPr lang="en-AU" sz="800" baseline="0"/>
              <a:t>TOID 3069</a:t>
            </a:r>
            <a:endParaRPr lang="en-AU" sz="80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3487" y="0"/>
            <a:ext cx="726891" cy="1090336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0" y="3839859"/>
            <a:ext cx="121920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6436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/>
          <p:nvPr/>
        </p:nvSpPr>
        <p:spPr>
          <a:xfrm>
            <a:off x="778933" y="6450904"/>
            <a:ext cx="9487360" cy="1"/>
          </a:xfrm>
          <a:prstGeom prst="line">
            <a:avLst/>
          </a:prstGeom>
          <a:ln w="12700">
            <a:solidFill>
              <a:srgbClr val="FF2D0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0" tIns="0" rIns="0" bIns="0"/>
          <a:lstStyle/>
          <a:p>
            <a:pPr lvl="0">
              <a:defRPr sz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endParaRPr sz="1200"/>
          </a:p>
        </p:txBody>
      </p:sp>
      <p:pic>
        <p:nvPicPr>
          <p:cNvPr id="9" name="image3.png" descr="Swinburne Logo RGB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7780" y="4471"/>
            <a:ext cx="1010040" cy="15150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image2.png" descr="KNOWING Logo RGB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6297" y="5709635"/>
            <a:ext cx="1010040" cy="75753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34878869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8239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623" y="1229710"/>
            <a:ext cx="11488755" cy="2280252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6552" y="3649334"/>
            <a:ext cx="9144000" cy="2388859"/>
          </a:xfrm>
          <a:noFill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52010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AU" sz="800" dirty="0"/>
              <a:t>CRICOS</a:t>
            </a:r>
            <a:r>
              <a:rPr lang="en-AU" sz="800" baseline="0" dirty="0"/>
              <a:t> 00111D</a:t>
            </a:r>
          </a:p>
          <a:p>
            <a:pPr algn="r"/>
            <a:r>
              <a:rPr lang="en-AU" sz="800" baseline="0" dirty="0"/>
              <a:t>TOID 3059</a:t>
            </a:r>
            <a:endParaRPr lang="en-AU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ABBEB8-76C6-094B-A5EC-4706ECE8DB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75"/>
          <a:stretch/>
        </p:blipFill>
        <p:spPr>
          <a:xfrm>
            <a:off x="9671836" y="0"/>
            <a:ext cx="2168542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339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12" y="1509387"/>
            <a:ext cx="11503576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1509387"/>
            <a:ext cx="5675588" cy="45366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509387"/>
            <a:ext cx="5675589" cy="453668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13718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4213" y="2333299"/>
            <a:ext cx="5675588" cy="37285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2333299"/>
            <a:ext cx="5675589" cy="37285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3"/>
          </p:nvPr>
        </p:nvSpPr>
        <p:spPr>
          <a:xfrm>
            <a:off x="344211" y="1509387"/>
            <a:ext cx="5675588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4"/>
          </p:nvPr>
        </p:nvSpPr>
        <p:spPr>
          <a:xfrm>
            <a:off x="6172199" y="1509387"/>
            <a:ext cx="567558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0" u="none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54311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4212" y="183825"/>
            <a:ext cx="11503576" cy="132556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031066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212" y="1177647"/>
            <a:ext cx="11490877" cy="207005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212" y="3335008"/>
            <a:ext cx="11490877" cy="2687421"/>
          </a:xfrm>
          <a:noFill/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4253F-B2AB-5B44-A09D-4CA090ADA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2"/>
          <a:stretch/>
        </p:blipFill>
        <p:spPr>
          <a:xfrm>
            <a:off x="9661240" y="10836"/>
            <a:ext cx="2173849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099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9465A-8857-432B-B8F7-DAABA936F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91680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697" y="5486400"/>
            <a:ext cx="4665555" cy="12432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2000" cy="5358064"/>
          </a:xfrm>
          <a:noFill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4946" y="5358064"/>
            <a:ext cx="7127055" cy="14999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91920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theme" Target="../theme/theme2.xml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theme" Target="../theme/theme3.xml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theme" Target="../theme/theme4.xml"/><Relationship Id="rId10" Type="http://schemas.openxmlformats.org/officeDocument/2006/relationships/image" Target="../media/image18.png"/><Relationship Id="rId11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296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87" r:id="rId4"/>
    <p:sldLayoutId id="2147483688" r:id="rId5"/>
    <p:sldLayoutId id="2147483673" r:id="rId6"/>
    <p:sldLayoutId id="2147483674" r:id="rId7"/>
    <p:sldLayoutId id="2147483675" r:id="rId8"/>
    <p:sldLayoutId id="2147483689" r:id="rId9"/>
    <p:sldLayoutId id="2147483677" r:id="rId10"/>
    <p:sldLayoutId id="2147483680" r:id="rId11"/>
    <p:sldLayoutId id="2147483671" r:id="rId12"/>
    <p:sldLayoutId id="2147483672" r:id="rId13"/>
    <p:sldLayoutId id="2147483681" r:id="rId14"/>
    <p:sldLayoutId id="2147483682" r:id="rId15"/>
    <p:sldLayoutId id="2147483683" r:id="rId16"/>
    <p:sldLayoutId id="2147483685" r:id="rId17"/>
    <p:sldLayoutId id="2147483679" r:id="rId18"/>
    <p:sldLayoutId id="2147483690" r:id="rId19"/>
    <p:sldLayoutId id="214748370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KNOWING Logo RGB.png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67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2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vert="horz" lIns="91440" tIns="90000" rIns="91440" bIns="90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KNOWING Logo RGB.png"/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22575" y="6177568"/>
            <a:ext cx="725213" cy="54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5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0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alphaModFix amt="9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txBody>
          <a:bodyPr vert="horz" lIns="91440" tIns="108000" rIns="91440" bIns="10800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212" y="6176964"/>
            <a:ext cx="2743200" cy="544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465A-8857-432B-B8F7-DAABA936F9E1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4924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000" indent="-342000" algn="l" defTabSz="914400" rtl="0" eaLnBrk="1" latinLnBrk="0" hangingPunct="1">
        <a:lnSpc>
          <a:spcPct val="100000"/>
        </a:lnSpc>
        <a:spcBef>
          <a:spcPts val="768"/>
        </a:spcBef>
        <a:buFontTx/>
        <a:buBlip>
          <a:blip r:embed="rId11"/>
        </a:buBlip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1600" indent="-284400" algn="l" defTabSz="914400" rtl="0" eaLnBrk="1" latinLnBrk="0" hangingPunct="1">
        <a:lnSpc>
          <a:spcPct val="100000"/>
        </a:lnSpc>
        <a:spcBef>
          <a:spcPts val="672"/>
        </a:spcBef>
        <a:buFont typeface="Open Sans" panose="020B0606030504020204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4800" indent="-230400" algn="l" defTabSz="914400" rtl="0" eaLnBrk="1" latinLnBrk="0" hangingPunct="1">
        <a:lnSpc>
          <a:spcPct val="100000"/>
        </a:lnSpc>
        <a:spcBef>
          <a:spcPts val="576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480"/>
        </a:spcBef>
        <a:buFont typeface="Open Sans" panose="020B0606030504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0ED039-B6C7-C14D-95AB-6BCD2DF2F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280" y="1855804"/>
            <a:ext cx="6089790" cy="923330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t>EventEase: A Containerised CI/CD Pipeline for a Web Booking Application</a:t>
            </a:r>
            <a:endParaRPr lang="en-US" sz="3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6E85D9-D22E-4130-B927-E9BBB6DBC9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280" y="3748813"/>
            <a:ext cx="4265010" cy="1049218"/>
          </a:xfrm>
        </p:spPr>
        <p:txBody>
          <a:bodyPr wrap="square">
            <a:normAutofit/>
          </a:bodyPr>
          <a:lstStyle/>
          <a:p>
            <a:pPr/>
            <a:r>
              <a:rPr sz="1500" b="1"/>
              <a:t>SWE40006 Software Deployment &amp; Evolution  —  Project Presentation &amp; Demonstration</a:t>
            </a:r>
          </a:p>
          <a:p>
            <a:pPr/>
            <a:r>
              <a:rPr sz="1500"/>
              <a:t>Group CL02_Fri12:30_G06   ·   Tutor: Jan Han   ·   Friday 12:30–2:30</a:t>
            </a:r>
          </a:p>
          <a:p>
            <a:pPr/>
            <a:r>
              <a:rPr sz="1500"/>
              <a:t>Raza Syed  (104041595)   ·   Neeven Emmanuel  (105229389)   ·   Thinidu Madurapperuma  (104675729)</a:t>
            </a:r>
          </a:p>
        </p:txBody>
      </p:sp>
    </p:spTree>
    <p:extLst>
      <p:ext uri="{BB962C8B-B14F-4D97-AF65-F5344CB8AC3E}">
        <p14:creationId xmlns:p14="http://schemas.microsoft.com/office/powerpoint/2010/main" val="275786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9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1B0A-42D8-844A-BB64-A233C4B48F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8A680-990B-C74A-89FB-D37BF8593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B1073-2D2E-EA46-B03F-CF506B87A6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/>
            <a:r>
              <a:rPr sz="1800"/>
              <a:t>The problem — manual, per-environment deployment is slow and error-prone</a:t>
            </a:r>
            <a:endParaRPr lang="en-US"/>
          </a:p>
          <a:p>
            <a:pPr/>
            <a:r>
              <a:rPr sz="1800"/>
              <a:t>Our solution — a fully automated “build once, deploy many” CI/CD pipeline</a:t>
            </a:r>
          </a:p>
          <a:p>
            <a:pPr/>
            <a:r>
              <a:rPr sz="1800"/>
              <a:t>The application — EventEase, a community event booking web app</a:t>
            </a:r>
          </a:p>
          <a:p>
            <a:pPr/>
            <a:r>
              <a:rPr sz="1800"/>
              <a:t>Design decisions and the trade-offs behind our toolchain</a:t>
            </a:r>
          </a:p>
          <a:p>
            <a:pPr/>
            <a:r>
              <a:rPr sz="1800"/>
              <a:t>Technical challenges we hit — and how we solved them</a:t>
            </a:r>
          </a:p>
          <a:p>
            <a:pPr/>
            <a:r>
              <a:rPr sz="1800"/>
              <a:t>Live deployment demonstration: push → staging → production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86DBD-1952-0D40-A00E-AF2F2AE829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90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1896-B92F-E740-936F-9B599B806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Background and 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A980B-7656-8542-84B4-2E5DFBC15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A05A9-373C-0045-BD46-B81230D245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/>
            <a:r>
              <a:rPr sz="1700"/>
              <a:t>EventEase lets community groups and student societies post events and let attendees register online.</a:t>
            </a:r>
            <a:endParaRPr lang="en-US"/>
          </a:p>
          <a:p>
            <a:pPr/>
            <a:r>
              <a:rPr sz="1700"/>
              <a:t>The real problem is delivery, not the app: moving a code change to a live server by hand is slow, manual and inconsistent.</a:t>
            </a:r>
          </a:p>
          <a:p>
            <a:pPr/>
            <a:r>
              <a:rPr sz="1700"/>
              <a:t>Rebuilding separately for each environment causes “works on my machine” failures in production.</a:t>
            </a:r>
          </a:p>
          <a:p>
            <a:pPr/>
            <a:r>
              <a:rPr sz="1700" b="1"/>
              <a:t>Goal: take a change from a developer’s laptop to live production automatically, with no manual build.</a:t>
            </a:r>
          </a:p>
          <a:p>
            <a:pPr/>
            <a:r>
              <a:rPr sz="1700"/>
              <a:t>Strategy — build once, deploy many: one Docker image per commit, tagged by Git SHA, promoted staging → production unchanged.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69EAD5-AC02-BA4B-8DB1-42BE059DEF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53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4AB83-F7B4-2C43-BEA5-E416856D0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Scope and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35F0D-2DF7-FD46-9082-79F5B3F994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73DD8-685B-B243-B018-D9338F9F7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/>
            <a:r>
              <a:rPr sz="1700"/>
              <a:t>G1 — Provision four reproducible environments: Development, CI/Build, Test/Staging, Production</a:t>
            </a:r>
            <a:endParaRPr lang="en-US"/>
          </a:p>
          <a:p>
            <a:pPr/>
            <a:r>
              <a:rPr sz="1700"/>
              <a:t>G2 — Zero-touch CI/CD: fully automated from git push to Production, no manual steps</a:t>
            </a:r>
          </a:p>
          <a:p>
            <a:pPr/>
            <a:r>
              <a:rPr sz="1700"/>
              <a:t>G3 — Run unit, integration and E2E tests automatically; failures block promotion</a:t>
            </a:r>
          </a:p>
          <a:p>
            <a:pPr/>
            <a:r>
              <a:rPr sz="1700"/>
              <a:t>G4 — Instrument Production with Prometheus + Grafana monitoring</a:t>
            </a:r>
          </a:p>
          <a:p>
            <a:pPr/>
            <a:r>
              <a:rPr sz="1700"/>
              <a:t>G5 — Deliver a working EventEase app with a verified production database</a:t>
            </a:r>
          </a:p>
          <a:p>
            <a:pPr/>
            <a:r>
              <a:rPr sz="1700" b="1"/>
              <a:t>Target: the top level — full push-to-deploy automation with monitoring and rollback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60F101-8E29-8241-9CF7-91F0544017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318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3DB9-F778-8148-808A-075D79C4A9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Outcome/Deliverables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5FA61-AE6B-AB41-8794-617A146188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A9732-00B6-434C-AACB-1085A61D9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/>
            <a:r>
              <a:rPr sz="1700"/>
              <a:t>Live EventEase app on AWS EC2 — separate staging and production servers, behind Nginx</a:t>
            </a:r>
            <a:endParaRPr lang="en-US"/>
          </a:p>
          <a:p>
            <a:pPr/>
            <a:r>
              <a:rPr sz="1700"/>
              <a:t>Automated GitHub Actions pipeline: test → build &amp; push to GHCR → deploy staging → deploy production</a:t>
            </a:r>
          </a:p>
          <a:p>
            <a:pPr/>
            <a:r>
              <a:rPr sz="1700"/>
              <a:t>Same SHA-tagged image promoted across environments; a footer version banner proves what is deployed</a:t>
            </a:r>
          </a:p>
          <a:p>
            <a:pPr/>
            <a:r>
              <a:rPr sz="1700"/>
              <a:t>Automated E2E and smoke tests gate production; failed health check triggers automatic rollback</a:t>
            </a:r>
          </a:p>
          <a:p>
            <a:pPr/>
            <a:r>
              <a:rPr sz="1700"/>
              <a:t>Production monitoring: Prometheus + Grafana + Node Exporter; Discord deploy notifications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94CCD1-78F3-7141-8323-B2EA5D33BF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7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8FFD-6873-794A-ADE2-400553DFE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AU" i="0" dirty="0">
                <a:solidFill>
                  <a:srgbClr val="0F172A"/>
                </a:solidFill>
                <a:effectLst/>
                <a:latin typeface="+mj-lt"/>
              </a:rPr>
              <a:t>Design Concepts &amp; Trade-offs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8AE9D-1CFF-A447-8D28-8162C42315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99D8B-D692-FE44-87F0-976CF98B32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wrap="square"/>
          <a:lstStyle/>
          <a:p>
            <a:pPr/>
            <a:r>
              <a:rPr sz="1550"/>
              <a:t>Build once, deploy many — one image per commit removes environment drift (the core design choice)</a:t>
            </a:r>
            <a:endParaRPr lang="en-US"/>
          </a:p>
          <a:p>
            <a:pPr/>
            <a:r>
              <a:rPr sz="1550"/>
              <a:t>Containerise everything (Docker + Compose) — identical stack locally, in CI, on staging and production</a:t>
            </a:r>
          </a:p>
          <a:p>
            <a:pPr/>
            <a:r>
              <a:rPr sz="1550"/>
              <a:t>GitHub Actions over Jenkins — no build server to maintain; native integration with GHCR</a:t>
            </a:r>
          </a:p>
          <a:p>
            <a:pPr/>
            <a:r>
              <a:rPr sz="1550"/>
              <a:t>AWS EC2 over local VMs — public, always-on, a realistic staging/production split</a:t>
            </a:r>
          </a:p>
          <a:p>
            <a:pPr/>
            <a:r>
              <a:rPr sz="1550"/>
              <a:t>GHCR over Docker Hub — same GitHub account, private, free for the project</a:t>
            </a:r>
          </a:p>
          <a:p>
            <a:pPr/>
            <a:r>
              <a:rPr sz="1550"/>
              <a:t>pytest + Playwright — fast unit/integration plus real-browser end-to-end tests</a:t>
            </a:r>
          </a:p>
          <a:p>
            <a:pPr/>
            <a:r>
              <a:rPr sz="1550"/>
              <a:t>Trade-off: free-tier t3.micro limits — we kept each environment lean and single-node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C0396-78AF-EE49-B32E-876FA9372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53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9CD25-C8A7-B547-A638-0B9902A6F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347472"/>
            <a:ext cx="11338560" cy="822960"/>
          </a:xfrm>
        </p:spPr>
        <p:txBody>
          <a:bodyPr wrap="square" anchor="t"/>
          <a:lstStyle/>
          <a:p>
            <a:pPr algn="l"/>
            <a:r>
              <a:rPr sz="3200"/>
              <a:t>Execution &amp; Technical Challenges</a:t>
            </a:r>
            <a:endParaRPr lang="en-US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17429-9923-C042-86AE-53E731EB9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82519-BAB0-C54F-8481-4E80B23DEF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768" y="1371600"/>
            <a:ext cx="6309360" cy="5029200"/>
          </a:xfrm>
        </p:spPr>
        <p:txBody>
          <a:bodyPr wrap="square"/>
          <a:lstStyle/>
          <a:p>
            <a:pPr/>
            <a:r>
              <a:rPr sz="1450" b="1"/>
              <a:t>Each stage surfaced a real failure — debugging them was the heart of the project:</a:t>
            </a:r>
            <a:endParaRPr lang="en-US"/>
          </a:p>
          <a:p>
            <a:pPr/>
            <a:r>
              <a:rPr sz="1450"/>
              <a:t>CI import failure — tests passed locally but failed in CI (module not found). Fix: set the test pythonpath in pytest config.</a:t>
            </a:r>
          </a:p>
          <a:p>
            <a:pPr/>
            <a:r>
              <a:rPr sz="1450"/>
              <a:t>GHCR rejected the image — “repository name must be lowercase”. Fix: forced a lowercase image name in the workflow.</a:t>
            </a:r>
          </a:p>
          <a:p>
            <a:pPr/>
            <a:r>
              <a:rPr sz="1450"/>
              <a:t>Production 502 — three Gunicorn workers raced to create DB tables (duplicate-key crash). Fix: moved table creation to a one-off init step before workers start.</a:t>
            </a:r>
          </a:p>
          <a:p>
            <a:pPr/>
            <a:r>
              <a:rPr sz="1450"/>
              <a:t>SSH blocked from our shell — used the EC2 Instance Connect browser terminal to set up both servers.</a:t>
            </a:r>
          </a:p>
          <a:p>
            <a:pPr/>
            <a:r>
              <a:rPr sz="1450"/>
              <a:t>Secrets &amp; tokens — found the GHCR token under account Developer settings and wired six GitHub Secrets.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6FC31-7561-C34A-89BD-0FA84C705E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p_ghcr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3977639" cy="20620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3451916"/>
            <a:ext cx="3977639" cy="274320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l"/>
            <a:r>
              <a:rPr sz="950" i="1">
                <a:solidFill>
                  <a:srgbClr val="595959"/>
                </a:solidFill>
              </a:rPr>
              <a:t>GHCR rejected the push: “repository name must be lowercase”</a:t>
            </a:r>
          </a:p>
        </p:txBody>
      </p:sp>
      <p:pic>
        <p:nvPicPr>
          <p:cNvPr id="8" name="Picture 7" descr="p_502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781100"/>
            <a:ext cx="3977639" cy="20378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0" y="5837193"/>
            <a:ext cx="3977639" cy="274320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l"/>
            <a:r>
              <a:rPr sz="950" i="1">
                <a:solidFill>
                  <a:srgbClr val="595959"/>
                </a:solidFill>
              </a:rPr>
              <a:t>Production 502: Gunicorn workers crash on boot (DB table race)</a:t>
            </a:r>
          </a:p>
        </p:txBody>
      </p:sp>
    </p:spTree>
    <p:extLst>
      <p:ext uri="{BB962C8B-B14F-4D97-AF65-F5344CB8AC3E}">
        <p14:creationId xmlns:p14="http://schemas.microsoft.com/office/powerpoint/2010/main" val="3098379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E9CB-1421-46C3-9F86-94F2EDD9B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347472"/>
            <a:ext cx="11338560" cy="822960"/>
          </a:xfrm>
        </p:spPr>
        <p:txBody>
          <a:bodyPr wrap="square" anchor="t"/>
          <a:lstStyle/>
          <a:p>
            <a:pPr algn="l"/>
            <a:r>
              <a:rPr sz="2700"/>
              <a:t>Deployment Demonstration — Infrastructure &amp; Pipeline</a:t>
            </a:r>
            <a:endParaRPr lang="en-AU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A55C9-EF98-415F-A4CD-9FCCE5D1F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DE2E1-68E0-4489-B057-1843A213D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768" y="1207008"/>
            <a:ext cx="11338560" cy="502920"/>
          </a:xfrm>
        </p:spPr>
        <p:txBody>
          <a:bodyPr wrap="square"/>
          <a:lstStyle/>
          <a:p>
            <a:pPr/>
            <a:r>
              <a:rPr sz="1500"/>
              <a:t>Four environments provisioned on AWS; every push to main flows through the pipeline automatically.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4DAF7-648D-492B-A0A0-516568A877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 descr="s_ec2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5440680" cy="31542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239091"/>
            <a:ext cx="5440680" cy="274320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l"/>
            <a:r>
              <a:rPr sz="950" i="1">
                <a:solidFill>
                  <a:srgbClr val="595959"/>
                </a:solidFill>
              </a:rPr>
              <a:t>AWS EC2 — staging &amp; production instances running (Sydney region)</a:t>
            </a:r>
          </a:p>
        </p:txBody>
      </p:sp>
      <p:pic>
        <p:nvPicPr>
          <p:cNvPr id="8" name="Picture 7" descr="s_repo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057400"/>
            <a:ext cx="5440680" cy="30541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45352" y="5138956"/>
            <a:ext cx="5440680" cy="274320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l"/>
            <a:r>
              <a:rPr sz="950" i="1">
                <a:solidFill>
                  <a:srgbClr val="595959"/>
                </a:solidFill>
              </a:rPr>
              <a:t>GitHub Actions — automated staging &amp; production deployments</a:t>
            </a:r>
          </a:p>
        </p:txBody>
      </p:sp>
    </p:spTree>
    <p:extLst>
      <p:ext uri="{BB962C8B-B14F-4D97-AF65-F5344CB8AC3E}">
        <p14:creationId xmlns:p14="http://schemas.microsoft.com/office/powerpoint/2010/main" val="203205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E9CB-1421-46C3-9F86-94F2EDD9B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347472"/>
            <a:ext cx="11338560" cy="822960"/>
          </a:xfrm>
        </p:spPr>
        <p:txBody>
          <a:bodyPr wrap="square" anchor="t"/>
          <a:lstStyle/>
          <a:p>
            <a:pPr algn="l"/>
            <a:r>
              <a:rPr sz="2700"/>
              <a:t>Deployment Demonstration — Live Application</a:t>
            </a:r>
            <a:endParaRPr lang="en-AU"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FA55C9-EF98-415F-A4CD-9FCCE5D1FB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DE2E1-68E0-4489-B057-1843A213D4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9768" y="1207008"/>
            <a:ext cx="11338560" cy="502920"/>
          </a:xfrm>
        </p:spPr>
        <p:txBody>
          <a:bodyPr wrap="square"/>
          <a:lstStyle/>
          <a:p>
            <a:pPr/>
            <a:r>
              <a:rPr sz="1500"/>
              <a:t>The verified image runs live behind Nginx — confirmed by automated end-to-end tests creating real events.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4DAF7-648D-492B-A0A0-516568A877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 descr="s_live_e2e_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5440680" cy="30541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138956"/>
            <a:ext cx="5440680" cy="274320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l"/>
            <a:r>
              <a:rPr sz="950" i="1">
                <a:solidFill>
                  <a:srgbClr val="595959"/>
                </a:solidFill>
              </a:rPr>
              <a:t>Live site — upcoming events created automatically by E2E tests</a:t>
            </a:r>
          </a:p>
        </p:txBody>
      </p:sp>
      <p:pic>
        <p:nvPicPr>
          <p:cNvPr id="8" name="Picture 7" descr="s_live_form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057400"/>
            <a:ext cx="5440680" cy="30541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45352" y="5138956"/>
            <a:ext cx="5440680" cy="274320"/>
          </a:xfrm>
          <a:prstGeom prst="rect">
            <a:avLst/>
          </a:prstGeom>
          <a:noFill/>
        </p:spPr>
        <p:txBody>
          <a:bodyPr wrap="square" lIns="0" rIns="0" tIns="18288" bIns="0">
            <a:spAutoFit/>
          </a:bodyPr>
          <a:lstStyle/>
          <a:p>
            <a:pPr algn="l"/>
            <a:r>
              <a:rPr sz="950" i="1">
                <a:solidFill>
                  <a:srgbClr val="595959"/>
                </a:solidFill>
              </a:rPr>
              <a:t>Live site — Create Event form (working production app)</a:t>
            </a:r>
          </a:p>
        </p:txBody>
      </p:sp>
    </p:spTree>
    <p:extLst>
      <p:ext uri="{BB962C8B-B14F-4D97-AF65-F5344CB8AC3E}">
        <p14:creationId xmlns:p14="http://schemas.microsoft.com/office/powerpoint/2010/main" val="2032050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BC5A-8A08-8341-A806-3DDF5108F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239" y="2785803"/>
            <a:ext cx="9687755" cy="584775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79543290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">
  <a:themeElements>
    <a:clrScheme name="Swinburne">
      <a:dk1>
        <a:srgbClr val="000000"/>
      </a:dk1>
      <a:lt1>
        <a:sysClr val="window" lastClr="FFFFFF"/>
      </a:lt1>
      <a:dk2>
        <a:srgbClr val="3D3A3B"/>
      </a:dk2>
      <a:lt2>
        <a:srgbClr val="E7E7E8"/>
      </a:lt2>
      <a:accent1>
        <a:srgbClr val="3D3A3B"/>
      </a:accent1>
      <a:accent2>
        <a:srgbClr val="E7E7E8"/>
      </a:accent2>
      <a:accent3>
        <a:srgbClr val="A5A5A5"/>
      </a:accent3>
      <a:accent4>
        <a:srgbClr val="BFBFBF"/>
      </a:accent4>
      <a:accent5>
        <a:srgbClr val="D8D8D8"/>
      </a:accent5>
      <a:accent6>
        <a:srgbClr val="F2F2F2"/>
      </a:accent6>
      <a:hlink>
        <a:srgbClr val="0563C1"/>
      </a:hlink>
      <a:folHlink>
        <a:srgbClr val="954F72"/>
      </a:folHlink>
    </a:clrScheme>
    <a:fontScheme name="SwinburneFonts">
      <a:majorFont>
        <a:latin typeface="Barlow Light"/>
        <a:ea typeface=""/>
        <a:cs typeface=""/>
      </a:majorFont>
      <a:minorFont>
        <a:latin typeface="Open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" id="{2F5F439F-722C-4FD2-84ED-4D1CD1AFAB38}" vid="{5462BE9E-DCA2-451B-A3C6-85FCFC982355}"/>
    </a:ext>
  </a:extLst>
</a:theme>
</file>

<file path=ppt/theme/theme2.xml><?xml version="1.0" encoding="utf-8"?>
<a:theme xmlns:a="http://schemas.openxmlformats.org/drawingml/2006/main" name="Swinburne - Light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Template-Standard.potx [Read-Only]" id="{756BC337-38CE-44BA-B896-85768D508A04}" vid="{9554A963-9F5C-4F0C-9853-3723F7E40F3B}"/>
    </a:ext>
  </a:extLst>
</a:theme>
</file>

<file path=ppt/theme/theme3.xml><?xml version="1.0" encoding="utf-8"?>
<a:theme xmlns:a="http://schemas.openxmlformats.org/drawingml/2006/main" name="Swinburne - Colourful Titles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Template-Standard.potx [Read-Only]" id="{756BC337-38CE-44BA-B896-85768D508A04}" vid="{CC3D3B01-8BE9-4307-AD09-768CABEC5801}"/>
    </a:ext>
  </a:extLst>
</a:theme>
</file>

<file path=ppt/theme/theme4.xml><?xml version="1.0" encoding="utf-8"?>
<a:theme xmlns:a="http://schemas.openxmlformats.org/drawingml/2006/main" name="Swinburne - Dark">
  <a:themeElements>
    <a:clrScheme name="Swinburne">
      <a:dk1>
        <a:srgbClr val="000000"/>
      </a:dk1>
      <a:lt1>
        <a:sysClr val="window" lastClr="FFFFFF"/>
      </a:lt1>
      <a:dk2>
        <a:srgbClr val="212121"/>
      </a:dk2>
      <a:lt2>
        <a:srgbClr val="FFFFFF"/>
      </a:lt2>
      <a:accent1>
        <a:srgbClr val="DC2D27"/>
      </a:accent1>
      <a:accent2>
        <a:srgbClr val="00B3EF"/>
      </a:accent2>
      <a:accent3>
        <a:srgbClr val="85C441"/>
      </a:accent3>
      <a:accent4>
        <a:srgbClr val="FDB945"/>
      </a:accent4>
      <a:accent5>
        <a:srgbClr val="882786"/>
      </a:accent5>
      <a:accent6>
        <a:srgbClr val="00BED8"/>
      </a:accent6>
      <a:hlink>
        <a:srgbClr val="006098"/>
      </a:hlink>
      <a:folHlink>
        <a:srgbClr val="006098"/>
      </a:folHlink>
    </a:clrScheme>
    <a:fontScheme name="Swinburne Font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nburne-wide-PPT-Template_JF" id="{EFF4B9AF-445E-B24D-B9E2-CEAE88E6D320}" vid="{9ECE9064-D06A-8749-A6C2-4D09428F76C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A9E6E55628542A9E00D522079AB8A" ma:contentTypeVersion="13" ma:contentTypeDescription="Create a new document." ma:contentTypeScope="" ma:versionID="bc9d5ad7b866290eeea8d0330b62b471">
  <xsd:schema xmlns:xsd="http://www.w3.org/2001/XMLSchema" xmlns:xs="http://www.w3.org/2001/XMLSchema" xmlns:p="http://schemas.microsoft.com/office/2006/metadata/properties" xmlns:ns2="6db94942-8a34-4a30-a8e6-78b89cf29212" xmlns:ns3="32a27114-0f9b-470d-a484-01f5ccaf5a0e" targetNamespace="http://schemas.microsoft.com/office/2006/metadata/properties" ma:root="true" ma:fieldsID="b30f91d08ecb2ef14acd979bef34f993" ns2:_="" ns3:_="">
    <xsd:import namespace="6db94942-8a34-4a30-a8e6-78b89cf29212"/>
    <xsd:import namespace="32a27114-0f9b-470d-a484-01f5ccaf5a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b94942-8a34-4a30-a8e6-78b89cf292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a27114-0f9b-470d-a484-01f5ccaf5a0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4C5A5F-5895-4E78-BACE-B717DFEC29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8B5A9C-D132-4FCF-951F-362122C708F1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6db94942-8a34-4a30-a8e6-78b89cf29212"/>
    <ds:schemaRef ds:uri="32a27114-0f9b-470d-a484-01f5ccaf5a0e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64B8229-934D-4FDB-94FE-E9083E54BC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b94942-8a34-4a30-a8e6-78b89cf29212"/>
    <ds:schemaRef ds:uri="32a27114-0f9b-470d-a484-01f5ccaf5a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Swinburne</Template>
  <TotalTime>2624</TotalTime>
  <Words>43</Words>
  <Application>Microsoft Office PowerPoint</Application>
  <PresentationFormat>Widescreen</PresentationFormat>
  <Paragraphs>13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Barlow Light</vt:lpstr>
      <vt:lpstr>Calibri</vt:lpstr>
      <vt:lpstr>Open Sans Semibold</vt:lpstr>
      <vt:lpstr>Open Sans</vt:lpstr>
      <vt:lpstr>Barlow SemiBold</vt:lpstr>
      <vt:lpstr>Montserrat</vt:lpstr>
      <vt:lpstr>Open Sans Light</vt:lpstr>
      <vt:lpstr>Arial</vt:lpstr>
      <vt:lpstr>Open Sans Extrabold</vt:lpstr>
      <vt:lpstr>Swinburne</vt:lpstr>
      <vt:lpstr>Swinburne - Light</vt:lpstr>
      <vt:lpstr>Swinburne - Colourful Titles</vt:lpstr>
      <vt:lpstr>Swinburne - Dark</vt:lpstr>
      <vt:lpstr>Project Presentation and Demonstration</vt:lpstr>
      <vt:lpstr>PowerPoint Presentation</vt:lpstr>
      <vt:lpstr>Overview</vt:lpstr>
      <vt:lpstr>Project Background and Problem Statement</vt:lpstr>
      <vt:lpstr>Project Scope and Objectives</vt:lpstr>
      <vt:lpstr>Project Outcome/Deliverables</vt:lpstr>
      <vt:lpstr>Design Concepts &amp; Trade-offs</vt:lpstr>
      <vt:lpstr>Execution &amp; Technical Challenges  </vt:lpstr>
      <vt:lpstr>Deployment Demonstration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Elliot Walsh</dc:creator>
  <cp:lastModifiedBy>Mandeep Dhindsa</cp:lastModifiedBy>
  <cp:revision>161</cp:revision>
  <dcterms:created xsi:type="dcterms:W3CDTF">2021-04-21T06:12:21Z</dcterms:created>
  <dcterms:modified xsi:type="dcterms:W3CDTF">2026-09-08T01:55:44Z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0x010100144A9E6E55628542A9E00D522079AB8A</vt:lpwstr>
  </property>
</Properties>
</file>